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0" d="100"/>
          <a:sy n="80" d="100"/>
        </p:scale>
        <p:origin x="1522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365760"/>
            <a:ext cx="8046720" cy="731520"/>
          </a:xfrm>
          <a:prstGeom prst="roundRect">
            <a:avLst/>
          </a:prstGeom>
          <a:solidFill>
            <a:srgbClr val="D9E4F5"/>
          </a:solidFill>
          <a:ln>
            <a:solidFill>
              <a:srgbClr val="1F3C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1F3C88"/>
                </a:solidFill>
              </a:rPr>
              <a:t>Telecom Customer Churn Analysis &amp; Retention Strategy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2801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i="1"/>
              <a:t>Executive Project Summary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828800"/>
            <a:ext cx="7589520" cy="2743200"/>
          </a:xfrm>
          <a:prstGeom prst="roundRect">
            <a:avLst/>
          </a:prstGeom>
          <a:solidFill>
            <a:srgbClr val="EEF3FB"/>
          </a:solidFill>
          <a:ln>
            <a:solidFill>
              <a:srgbClr val="1F3C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>
                <a:solidFill>
                  <a:srgbClr val="2B2D42"/>
                </a:solidFill>
              </a:defRPr>
            </a:pPr>
            <a:r>
              <a:rPr dirty="0"/>
              <a:t>• Objective: Analyze customer churn behavior and identify high-risk</a:t>
            </a:r>
            <a:endParaRPr lang="en-IN" dirty="0"/>
          </a:p>
          <a:p>
            <a:pPr>
              <a:defRPr sz="1800">
                <a:solidFill>
                  <a:srgbClr val="2B2D42"/>
                </a:solidFill>
              </a:defRPr>
            </a:pPr>
            <a:r>
              <a:rPr lang="en-GB" dirty="0"/>
              <a:t>   </a:t>
            </a:r>
            <a:r>
              <a:rPr dirty="0"/>
              <a:t>customer segments.</a:t>
            </a:r>
          </a:p>
          <a:p>
            <a:pPr algn="just">
              <a:defRPr sz="1800">
                <a:solidFill>
                  <a:srgbClr val="2B2D42"/>
                </a:solidFill>
              </a:defRPr>
            </a:pPr>
            <a:r>
              <a:rPr dirty="0"/>
              <a:t>• Tools Used: Excel, MySQL, Power BI</a:t>
            </a:r>
          </a:p>
          <a:p>
            <a:pPr>
              <a:defRPr sz="1800">
                <a:solidFill>
                  <a:srgbClr val="2B2D42"/>
                </a:solidFill>
              </a:defRPr>
            </a:pPr>
            <a:r>
              <a:rPr dirty="0"/>
              <a:t>• Dataset Size: 7,043 telecom customer records</a:t>
            </a:r>
          </a:p>
          <a:p>
            <a:pPr>
              <a:defRPr sz="1800">
                <a:solidFill>
                  <a:srgbClr val="2B2D42"/>
                </a:solidFill>
              </a:defRPr>
            </a:pPr>
            <a:r>
              <a:rPr dirty="0"/>
              <a:t>• Focus Areas: KPI Analysis, Customer Segmentation, Retention Strategy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365760"/>
            <a:ext cx="8046720" cy="731520"/>
          </a:xfrm>
          <a:prstGeom prst="roundRect">
            <a:avLst/>
          </a:prstGeom>
          <a:solidFill>
            <a:srgbClr val="D9E4F5"/>
          </a:solidFill>
          <a:ln>
            <a:solidFill>
              <a:srgbClr val="1F3C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1F3C88"/>
                </a:solidFill>
              </a:rPr>
              <a:t>Key KPIs &amp; Business Overview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1828800"/>
            <a:ext cx="7589520" cy="2743200"/>
          </a:xfrm>
          <a:prstGeom prst="roundRect">
            <a:avLst/>
          </a:prstGeom>
          <a:solidFill>
            <a:srgbClr val="EEF3FB"/>
          </a:solidFill>
          <a:ln>
            <a:solidFill>
              <a:srgbClr val="1F3C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>
                <a:solidFill>
                  <a:srgbClr val="2B2D42"/>
                </a:solidFill>
              </a:defRPr>
            </a:pPr>
            <a:r>
              <a:rPr dirty="0"/>
              <a:t>• Total Customers: 7K</a:t>
            </a:r>
          </a:p>
          <a:p>
            <a:pPr>
              <a:defRPr sz="1800">
                <a:solidFill>
                  <a:srgbClr val="2B2D42"/>
                </a:solidFill>
              </a:defRPr>
            </a:pPr>
            <a:r>
              <a:rPr dirty="0"/>
              <a:t>• Churned Customers: 2K</a:t>
            </a:r>
          </a:p>
          <a:p>
            <a:pPr>
              <a:defRPr sz="1800">
                <a:solidFill>
                  <a:srgbClr val="2B2D42"/>
                </a:solidFill>
              </a:defRPr>
            </a:pPr>
            <a:r>
              <a:rPr dirty="0"/>
              <a:t>• Churn Rate: 26.54%</a:t>
            </a:r>
          </a:p>
          <a:p>
            <a:pPr>
              <a:defRPr sz="1800">
                <a:solidFill>
                  <a:srgbClr val="2B2D42"/>
                </a:solidFill>
              </a:defRPr>
            </a:pPr>
            <a:r>
              <a:rPr dirty="0"/>
              <a:t>• Revenue Lost: ₹139.13K</a:t>
            </a:r>
          </a:p>
          <a:p>
            <a:pPr>
              <a:defRPr sz="1800">
                <a:solidFill>
                  <a:srgbClr val="2B2D42"/>
                </a:solidFill>
              </a:defRPr>
            </a:pPr>
            <a:r>
              <a:rPr dirty="0"/>
              <a:t>• Average Monthly Charge: 64.76</a:t>
            </a:r>
          </a:p>
          <a:p>
            <a:pPr>
              <a:defRPr sz="1800">
                <a:solidFill>
                  <a:srgbClr val="2B2D42"/>
                </a:solidFill>
              </a:defRPr>
            </a:pPr>
            <a:r>
              <a:rPr dirty="0"/>
              <a:t>• Average Tenure: 32.37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365760"/>
            <a:ext cx="8046720" cy="731520"/>
          </a:xfrm>
          <a:prstGeom prst="roundRect">
            <a:avLst/>
          </a:prstGeom>
          <a:solidFill>
            <a:srgbClr val="D9E4F5"/>
          </a:solidFill>
          <a:ln>
            <a:solidFill>
              <a:srgbClr val="1F3C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1F3C88"/>
                </a:solidFill>
              </a:rPr>
              <a:t>Major Business Insights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1828800"/>
            <a:ext cx="7589520" cy="2743200"/>
          </a:xfrm>
          <a:prstGeom prst="roundRect">
            <a:avLst/>
          </a:prstGeom>
          <a:solidFill>
            <a:srgbClr val="EEF3FB"/>
          </a:solidFill>
          <a:ln>
            <a:solidFill>
              <a:srgbClr val="1F3C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>
                <a:solidFill>
                  <a:srgbClr val="2B2D42"/>
                </a:solidFill>
              </a:defRPr>
            </a:pPr>
            <a:r>
              <a:rPr dirty="0"/>
              <a:t>• Month-to-month customers showed the highest churn rate.</a:t>
            </a:r>
          </a:p>
          <a:p>
            <a:pPr>
              <a:defRPr sz="1800">
                <a:solidFill>
                  <a:srgbClr val="2B2D42"/>
                </a:solidFill>
              </a:defRPr>
            </a:pPr>
            <a:r>
              <a:rPr dirty="0"/>
              <a:t>• Fiber optic users churned significantly more than DSL users.</a:t>
            </a:r>
          </a:p>
          <a:p>
            <a:pPr>
              <a:defRPr sz="1800">
                <a:solidFill>
                  <a:srgbClr val="2B2D42"/>
                </a:solidFill>
              </a:defRPr>
            </a:pPr>
            <a:r>
              <a:rPr dirty="0"/>
              <a:t>• New customers were identified as the most vulnerable segment.</a:t>
            </a:r>
          </a:p>
          <a:p>
            <a:pPr>
              <a:defRPr sz="1800">
                <a:solidFill>
                  <a:srgbClr val="2B2D42"/>
                </a:solidFill>
              </a:defRPr>
            </a:pPr>
            <a:r>
              <a:rPr dirty="0"/>
              <a:t>• Electronic check users demonstrated elevated churn probability.</a:t>
            </a:r>
          </a:p>
          <a:p>
            <a:pPr>
              <a:defRPr sz="1800">
                <a:solidFill>
                  <a:srgbClr val="2B2D42"/>
                </a:solidFill>
              </a:defRPr>
            </a:pPr>
            <a:r>
              <a:rPr dirty="0"/>
              <a:t>• Customers without support/security services showed high churn behavior.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365760"/>
            <a:ext cx="8046720" cy="731520"/>
          </a:xfrm>
          <a:prstGeom prst="roundRect">
            <a:avLst/>
          </a:prstGeom>
          <a:solidFill>
            <a:srgbClr val="D9E4F5"/>
          </a:solidFill>
          <a:ln>
            <a:solidFill>
              <a:srgbClr val="1F3C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1F3C88"/>
                </a:solidFill>
              </a:rPr>
              <a:t>Customer Retention &amp; Risk Analysis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1828800"/>
            <a:ext cx="7589520" cy="2743200"/>
          </a:xfrm>
          <a:prstGeom prst="roundRect">
            <a:avLst/>
          </a:prstGeom>
          <a:solidFill>
            <a:srgbClr val="EEF3FB"/>
          </a:solidFill>
          <a:ln>
            <a:solidFill>
              <a:srgbClr val="1F3C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>
                <a:solidFill>
                  <a:srgbClr val="2B2D42"/>
                </a:solidFill>
              </a:defRPr>
            </a:pPr>
            <a:r>
              <a:rPr dirty="0"/>
              <a:t>• Customers without Tech Support showed 41.64% churn.</a:t>
            </a:r>
          </a:p>
          <a:p>
            <a:pPr>
              <a:defRPr sz="1800">
                <a:solidFill>
                  <a:srgbClr val="2B2D42"/>
                </a:solidFill>
              </a:defRPr>
            </a:pPr>
            <a:r>
              <a:rPr dirty="0"/>
              <a:t>• Customers without Online Security showed 41.77% churn.</a:t>
            </a:r>
          </a:p>
          <a:p>
            <a:pPr>
              <a:defRPr sz="1800">
                <a:solidFill>
                  <a:srgbClr val="2B2D42"/>
                </a:solidFill>
              </a:defRPr>
            </a:pPr>
            <a:r>
              <a:rPr dirty="0"/>
              <a:t>• Customers without Online Backup showed 39.93% churn.</a:t>
            </a:r>
          </a:p>
          <a:p>
            <a:pPr>
              <a:defRPr sz="1800">
                <a:solidFill>
                  <a:srgbClr val="2B2D42"/>
                </a:solidFill>
              </a:defRPr>
            </a:pPr>
            <a:r>
              <a:rPr dirty="0"/>
              <a:t>• Device Protection users showed lower churn compared to non-users.</a:t>
            </a:r>
          </a:p>
          <a:p>
            <a:pPr>
              <a:defRPr sz="1800">
                <a:solidFill>
                  <a:srgbClr val="2B2D42"/>
                </a:solidFill>
              </a:defRPr>
            </a:pPr>
            <a:r>
              <a:rPr dirty="0"/>
              <a:t>• Service engagement strongly improved customer retention.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365760"/>
            <a:ext cx="8046720" cy="731520"/>
          </a:xfrm>
          <a:prstGeom prst="roundRect">
            <a:avLst/>
          </a:prstGeom>
          <a:solidFill>
            <a:srgbClr val="D9E4F5"/>
          </a:solidFill>
          <a:ln>
            <a:solidFill>
              <a:srgbClr val="1F3C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1F3C88"/>
                </a:solidFill>
              </a:rPr>
              <a:t>Strategic Recommendations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1828800"/>
            <a:ext cx="7589520" cy="2743200"/>
          </a:xfrm>
          <a:prstGeom prst="roundRect">
            <a:avLst/>
          </a:prstGeom>
          <a:solidFill>
            <a:srgbClr val="EEF3FB"/>
          </a:solidFill>
          <a:ln>
            <a:solidFill>
              <a:srgbClr val="1F3C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>
                <a:solidFill>
                  <a:srgbClr val="2B2D42"/>
                </a:solidFill>
              </a:defRPr>
            </a:pPr>
            <a:r>
              <a:rPr dirty="0"/>
              <a:t>• Promote long-term contract adoption through discounts.</a:t>
            </a:r>
          </a:p>
          <a:p>
            <a:pPr>
              <a:defRPr sz="1800">
                <a:solidFill>
                  <a:srgbClr val="2B2D42"/>
                </a:solidFill>
              </a:defRPr>
            </a:pPr>
            <a:r>
              <a:rPr dirty="0"/>
              <a:t>• Improve onboarding experience for new customers.</a:t>
            </a:r>
          </a:p>
          <a:p>
            <a:pPr>
              <a:defRPr sz="1800">
                <a:solidFill>
                  <a:srgbClr val="2B2D42"/>
                </a:solidFill>
              </a:defRPr>
            </a:pPr>
            <a:r>
              <a:rPr dirty="0"/>
              <a:t>• Bundle support and security services with internet plans.</a:t>
            </a:r>
          </a:p>
          <a:p>
            <a:pPr>
              <a:defRPr sz="1800">
                <a:solidFill>
                  <a:srgbClr val="2B2D42"/>
                </a:solidFill>
              </a:defRPr>
            </a:pPr>
            <a:r>
              <a:rPr dirty="0"/>
              <a:t>• Encourage auto-payment methods through incentives.</a:t>
            </a:r>
          </a:p>
          <a:p>
            <a:pPr>
              <a:defRPr sz="1800">
                <a:solidFill>
                  <a:srgbClr val="2B2D42"/>
                </a:solidFill>
              </a:defRPr>
            </a:pPr>
            <a:r>
              <a:rPr dirty="0"/>
              <a:t>• Launch targeted retention campaigns for high-risk customers.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365760"/>
            <a:ext cx="8046720" cy="731520"/>
          </a:xfrm>
          <a:prstGeom prst="roundRect">
            <a:avLst/>
          </a:prstGeom>
          <a:solidFill>
            <a:srgbClr val="D9E4F5"/>
          </a:solidFill>
          <a:ln>
            <a:solidFill>
              <a:srgbClr val="1F3C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1F3C88"/>
                </a:solidFill>
              </a:rPr>
              <a:t>Conclusion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1828800"/>
            <a:ext cx="7589520" cy="2743200"/>
          </a:xfrm>
          <a:prstGeom prst="roundRect">
            <a:avLst/>
          </a:prstGeom>
          <a:solidFill>
            <a:srgbClr val="EEF3FB"/>
          </a:solidFill>
          <a:ln>
            <a:solidFill>
              <a:srgbClr val="1F3C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>
                <a:solidFill>
                  <a:srgbClr val="2B2D42"/>
                </a:solidFill>
              </a:defRPr>
            </a:pPr>
            <a:r>
              <a:rPr dirty="0"/>
              <a:t>• The project successfully identified key churn drivers and high-risk customer</a:t>
            </a:r>
            <a:endParaRPr lang="en-GB" dirty="0"/>
          </a:p>
          <a:p>
            <a:pPr>
              <a:defRPr sz="1800">
                <a:solidFill>
                  <a:srgbClr val="2B2D42"/>
                </a:solidFill>
              </a:defRPr>
            </a:pPr>
            <a:r>
              <a:rPr lang="en-GB" dirty="0"/>
              <a:t>    </a:t>
            </a:r>
            <a:r>
              <a:rPr dirty="0"/>
              <a:t>segments.</a:t>
            </a:r>
          </a:p>
          <a:p>
            <a:pPr>
              <a:defRPr sz="1800">
                <a:solidFill>
                  <a:srgbClr val="2B2D42"/>
                </a:solidFill>
              </a:defRPr>
            </a:pPr>
            <a:r>
              <a:rPr dirty="0"/>
              <a:t>• Power BI dashboards enabled executive-level business storytelling.</a:t>
            </a:r>
          </a:p>
          <a:p>
            <a:pPr>
              <a:defRPr sz="1800">
                <a:solidFill>
                  <a:srgbClr val="2B2D42"/>
                </a:solidFill>
              </a:defRPr>
            </a:pPr>
            <a:r>
              <a:rPr dirty="0"/>
              <a:t>• The analysis supports data-driven retention strategies for telecom</a:t>
            </a:r>
            <a:endParaRPr lang="en-GB" dirty="0"/>
          </a:p>
          <a:p>
            <a:pPr>
              <a:defRPr sz="1800">
                <a:solidFill>
                  <a:srgbClr val="2B2D42"/>
                </a:solidFill>
              </a:defRPr>
            </a:pPr>
            <a:r>
              <a:rPr lang="en-IN" dirty="0"/>
              <a:t>    </a:t>
            </a:r>
            <a:r>
              <a:rPr dirty="0"/>
              <a:t>businesses.</a:t>
            </a:r>
          </a:p>
          <a:p>
            <a:pPr>
              <a:defRPr sz="1800">
                <a:solidFill>
                  <a:srgbClr val="2B2D42"/>
                </a:solidFill>
              </a:defRPr>
            </a:pPr>
            <a:r>
              <a:rPr dirty="0"/>
              <a:t>• This project demonstrates end-to-end analytics using Excel, SQL, and</a:t>
            </a:r>
            <a:endParaRPr lang="en-GB" dirty="0"/>
          </a:p>
          <a:p>
            <a:pPr>
              <a:defRPr sz="1800">
                <a:solidFill>
                  <a:srgbClr val="2B2D42"/>
                </a:solidFill>
              </a:defRPr>
            </a:pPr>
            <a:r>
              <a:rPr lang="en-IN" dirty="0"/>
              <a:t>  </a:t>
            </a:r>
            <a:r>
              <a:rPr dirty="0"/>
              <a:t> </a:t>
            </a:r>
            <a:r>
              <a:rPr lang="en-GB" dirty="0"/>
              <a:t> </a:t>
            </a:r>
            <a:r>
              <a:rPr dirty="0"/>
              <a:t>Power BI.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298</Words>
  <Application>Microsoft Office PowerPoint</Application>
  <PresentationFormat>On-screen Show (4:3)</PresentationFormat>
  <Paragraphs>40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SOURABH HEGDE</cp:lastModifiedBy>
  <cp:revision>2</cp:revision>
  <dcterms:created xsi:type="dcterms:W3CDTF">2013-01-27T09:14:16Z</dcterms:created>
  <dcterms:modified xsi:type="dcterms:W3CDTF">2026-05-26T19:00:29Z</dcterms:modified>
  <cp:category/>
</cp:coreProperties>
</file>